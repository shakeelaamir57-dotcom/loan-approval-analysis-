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Loan Approval Prediction &amp; Banking Analytics</a:t>
            </a:r>
          </a:p>
          <a:p>
            <a:pPr>
              <a:spcAft>
                <a:spcPts val="2800"/>
              </a:spcAft>
              <a:defRPr sz="1800">
                <a:solidFill>
                  <a:srgbClr val="BFDBFE"/>
                </a:solidFill>
                <a:latin typeface="Segoe UI"/>
              </a:defRPr>
            </a:pPr>
            <a:r>
              <a:t>Machine Learning &amp; Credit Risk Analysis using SQL, Python, Power BI, XGBoost, and CatBoost</a:t>
            </a:r>
          </a:p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Presenter: Mohammed Aamir Shakeel Ahmad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Segoe UI"/>
              </a:defRPr>
            </a:pPr>
            <a:r>
              <a:t>LOAN APPROVAL PREDICTION &amp; BANKING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Overview &amp;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Problem Statement: Manual mortgage underwriting introduces bottlenecks, delays loan decisions, and increases default risk exposures.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Project Objective: Automate housing loan eligibility predictions with high recall to approve creditworthy clients without delay.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Business Use Case: Real-time retail pre-approval engine that audits credit risk and ensures fair lending compliance.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Technologies Used: SQL (SQLite), Python (Pandas/NumPy), Scikit-Learn, XGBoost, CatBoost, SHAP Explainable AI, and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Segoe UI"/>
              </a:defRPr>
            </a:pPr>
            <a:r>
              <a:t>LOAN APPROVAL PREDICTION &amp; BANKING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Dataset Architecture &amp;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Dataset Source: Analytics Vidhya / Kaggle Housing Loan Prediction Dataset.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Volume &amp; Dimensions: 614 historical applicant files with 13 demographic &amp; financial attributes.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Target Variable: Loan_Status (Y = Approved: 68.7%, N = Rejected: 31.3%).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Key Attributes: ApplicantIncome, CoapplicantIncome, LoanAmount, Term, Credit_History, Property_Area.</a:t>
            </a:r>
          </a:p>
        </p:txBody>
      </p:sp>
      <p:pic>
        <p:nvPicPr>
          <p:cNvPr id="6" name="Picture 5" descr="outlier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14966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Segoe UI"/>
              </a:defRPr>
            </a:pPr>
            <a:r>
              <a:t>LOAN APPROVAL PREDICTION &amp; BANKING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Relational Database &amp; SQL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Database Architecture: Loaded raw &amp; clean records into an embedded SQLite database (loan_database.db).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Data Quality Auditing: Executed range audits, duplicate detection, and null value verification queries.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SQL BI Queries: Built 30 structured analytical queries covering demographics, income ratios, and property velocity.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Advanced Concepts: Utilized CTEs, Subqueries, and Window Functions (DENSE_RANK(), running averages).</a:t>
            </a:r>
          </a:p>
        </p:txBody>
      </p:sp>
      <p:pic>
        <p:nvPicPr>
          <p:cNvPr id="6" name="Picture 5" descr="eda_financial_vs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1652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Segoe UI"/>
              </a:defRPr>
            </a:pPr>
            <a:r>
              <a:t>LOAN APPROVAL PREDICTION &amp; BANKING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Exploratory Data Analysis (EDA)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Missing Value Treatment: Imputed categorical nulls with Mode and numerical nulls with Median.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Credit History Dominance: Applicants with good credit history show a 79.58% approval rate vs 7.87% for bad credit.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Geographic Velocity: Semi-urban properties display the highest approval rate (76.82%) across regions.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Income Skewness: Highlighted right-skewed distributions with high-earning applicant outliers.</a:t>
            </a:r>
          </a:p>
        </p:txBody>
      </p:sp>
      <p:pic>
        <p:nvPicPr>
          <p:cNvPr id="6" name="Picture 5" descr="eda_categorical_vs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5205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Segoe UI"/>
              </a:defRPr>
            </a:pPr>
            <a:r>
              <a:t>LOAN APPROVAL PREDICTION &amp; BANKING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Feature Engineering &amp; Risk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TotalIncome: Combined Applicant + Coapplicant incomes to reflect true household purchasing power.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Loan-to-Income Ratio (LTI): Quantified requested loan exposure relative to monthly household income.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EMI Estimate: Calculated estimated monthly installments based on total term months.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Risk Category: Created rule-based Low, Medium, and High Risk segments combining credit history and income.</a:t>
            </a:r>
          </a:p>
        </p:txBody>
      </p:sp>
      <p:pic>
        <p:nvPicPr>
          <p:cNvPr id="6" name="Picture 5" descr="eda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754880" cy="4123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Segoe UI"/>
              </a:defRPr>
            </a:pPr>
            <a:r>
              <a:t>LOAN APPROVAL PREDICTION &amp; BANKING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Machine Learning Modeling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Preprocessing Pipeline: Integrated StandardScaler and OneHotEncoder via ColumnTransformer.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Algorithms Trained: Evaluated Logistic Regression, Decision Tree, Random Forest, XGBoost, and CatBoost.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Validation Strategy: Applied 5-Fold Stratified Cross-Validation and GridSearchCV hyperparameter tuning.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Model Selection: Selected CatBoost Classifier as the champion model for production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Segoe UI"/>
              </a:defRPr>
            </a:pPr>
            <a:r>
              <a:t>LOAN APPROVAL PREDICTION &amp; BANKING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Model Performance &amp; Comparative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Champion Accuracy: CatBoost achieved 85.37% test accuracy and an F1-Score of 90.10%.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High Sensitivity (Recall): Achieved 98.80% recall, minimizing false rejections of creditworthy clients.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ROC-AUC Performance: Outperformed baseline models with an ROC-AUC score of 0.842.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•  Production Readiness: High precision (82.80%) ensures default risk containment for retail lending.</a:t>
            </a:r>
          </a:p>
        </p:txBody>
      </p:sp>
      <p:pic>
        <p:nvPicPr>
          <p:cNvPr id="6" name="Picture 5" descr="evaluation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846320" cy="39524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Segoe UI"/>
              </a:defRPr>
            </a:pPr>
            <a:r>
              <a:t>LOAN APPROVAL PREDICTION &amp; BANKING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Explainable AI (SHAP) &amp; Fair Lending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Regulatory Compliance: Applied SHAP (Shapley Additive exPlanations) to satisfy Fair Lending guidelines.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Primary Drivers: Credit_History and TotalIncome proved to be the most influential positive drivers.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Demographic Fairness: Confirmed near-zero SHAP impact for Gender and Marital status, proving zero algorithmic bias.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Individual Case Audits: Evaluated local waterfall plots for approved vs rejected loan applications.</a:t>
            </a:r>
          </a:p>
        </p:txBody>
      </p:sp>
      <p:pic>
        <p:nvPicPr>
          <p:cNvPr id="6" name="Picture 5" descr="shap_beeswarm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846320" cy="2703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Segoe UI"/>
              </a:defRPr>
            </a:pPr>
            <a:r>
              <a:t>LOAN APPROVAL PREDICTION &amp; BANKING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Power BI 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Core KPIs: Total Applicants (614), Approval Rate (68.7%), Approved (422), Rejected (192), Avg Loan ($146.4K).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Interactive Filtering: Built global slicers for Gender, Property Area, Education, and Credit History.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Visual Layout: Combined donut charts, bar plots, and income vs loan scatter visuals.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 Executive Dashboard File: Delivered as an interactive Power BI report (Loan Analysis Dashboard.pbix).</a:t>
            </a:r>
          </a:p>
        </p:txBody>
      </p:sp>
      <p:pic>
        <p:nvPicPr>
          <p:cNvPr id="6" name="Picture 5" descr="loan_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2424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Segoe UI"/>
              </a:defRPr>
            </a:pPr>
            <a:r>
              <a:t>LOAN APPROVAL PREDICTION &amp; BANKING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Business Recommendations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Household Income Mandate: Assess loans on TotalIncome (Applicant + Coapplicant) to lower credit risk.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Semi-Urban Campaigning: Focus mortgage marketing in semi-urban areas due to high approval rates (76.82%).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Alternative Credit Scorecards: Build alternative scoring pipelines for clients lacking traditional credit history.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•  Future Technical Scope: Deploy automated FastAPI pre-approval microservices with real-time data drift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Project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  <a:latin typeface="Segoe UI"/>
              </a:defRPr>
            </a:pPr>
            <a:r>
              <a:t>✔  End-to-End Success: Successfully built an end-to-end Loan Approval Prediction &amp; Analytics project.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  <a:latin typeface="Segoe UI"/>
              </a:defRPr>
            </a:pPr>
            <a:r>
              <a:t>✔  Champion Model: CatBoost Classifier achieved 85.37% Accuracy and 98.80% Recall.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  <a:latin typeface="Segoe UI"/>
              </a:defRPr>
            </a:pPr>
            <a:r>
              <a:t>✔  Skills Demonstrated: SQL (Complex Queries &amp; CTEs), Python (Pandas/Scikit-Learn), Power BI, XGBoost, CatBoost, SHAP.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  <a:latin typeface="Segoe UI"/>
              </a:defRPr>
            </a:pPr>
            <a:r>
              <a:t>✔  Fair Lending Compliant: Validated zero demographic bias using Explainable AI (SHAP).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3C5FD"/>
                </a:solidFill>
                <a:latin typeface="Segoe UI"/>
              </a:defRPr>
            </a:pPr>
            <a:r>
              <a:t>Thank You!</a:t>
            </a:r>
          </a:p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Presenter: Mohammed Aamir Shakeel Ahmad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